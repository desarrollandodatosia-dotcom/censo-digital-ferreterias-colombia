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10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8229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la Solución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480" y="164592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Actualización de Ferreterías para Argos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2240280"/>
            <a:ext cx="50292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23774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ETL automatizado · Google Maps API · N8N · Dashboard interactivo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3017520"/>
            <a:ext cx="1417320" cy="1463040"/>
          </a:xfrm>
          <a:prstGeom prst="rect">
            <a:avLst/>
          </a:prstGeom>
          <a:solidFill>
            <a:srgbClr val="16243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309067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34.135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" y="376732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Ferreterías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ROES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947672" y="3017520"/>
            <a:ext cx="1417320" cy="1463040"/>
          </a:xfrm>
          <a:prstGeom prst="rect">
            <a:avLst/>
          </a:prstGeom>
          <a:solidFill>
            <a:srgbClr val="16243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47672" y="309067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947672" y="376732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entre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actualizaciones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83864" y="3017520"/>
            <a:ext cx="1417320" cy="1463040"/>
          </a:xfrm>
          <a:prstGeom prst="rect">
            <a:avLst/>
          </a:prstGeom>
          <a:solidFill>
            <a:srgbClr val="16243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83864" y="309067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483864" y="376732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0056" y="3017520"/>
            <a:ext cx="1417320" cy="1463040"/>
          </a:xfrm>
          <a:prstGeom prst="rect">
            <a:avLst/>
          </a:prstGeom>
          <a:solidFill>
            <a:srgbClr val="16243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0056" y="309067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020056" y="376732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Automatizado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botón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040880" y="502920"/>
            <a:ext cx="1828800" cy="82296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40880" y="5029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818120" y="1325880"/>
            <a:ext cx="36576" cy="2743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2" name="Shape 20"/>
          <p:cNvSpPr/>
          <p:nvPr/>
        </p:nvSpPr>
        <p:spPr>
          <a:xfrm>
            <a:off x="7040880" y="1600200"/>
            <a:ext cx="1828800" cy="8229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040880" y="16002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Apify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423160"/>
            <a:ext cx="36576" cy="2743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5" name="Shape 23"/>
          <p:cNvSpPr/>
          <p:nvPr/>
        </p:nvSpPr>
        <p:spPr>
          <a:xfrm>
            <a:off x="7040880" y="2697480"/>
            <a:ext cx="1828800" cy="822960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040880" y="2697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+ IA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818120" y="3520440"/>
            <a:ext cx="36576" cy="2743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8" name="Shape 26"/>
          <p:cNvSpPr/>
          <p:nvPr/>
        </p:nvSpPr>
        <p:spPr>
          <a:xfrm>
            <a:off x="7040880" y="3794760"/>
            <a:ext cx="1828800" cy="822960"/>
          </a:xfrm>
          <a:prstGeom prst="rect">
            <a:avLst/>
          </a:prstGeom>
          <a:solidFill>
            <a:srgbClr val="B45309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040880" y="3794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1480" y="484632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— Proyecto Data Science Argos · Abril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43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Arquitectura — Pipeline Completo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" y="7132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FUENTES DE DATOS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37160" y="987552"/>
            <a:ext cx="2560320" cy="566928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" y="987552"/>
            <a:ext cx="256032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RUES / Cámara de Comercio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34.135 registros base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37160" y="1627632"/>
            <a:ext cx="2560320" cy="804672"/>
          </a:xfrm>
          <a:prstGeom prst="rect">
            <a:avLst/>
          </a:prstGeom>
          <a:solidFill>
            <a:srgbClr val="0D9488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7160" y="1627632"/>
            <a:ext cx="2560320" cy="25603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" y="1627632"/>
            <a:ext cx="25603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APIFY — Google Maps Scraper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37160" y="1883664"/>
            <a:ext cx="25603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comercial · Teléfono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Latitud/Longitud · Web · Rating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15768" y="1463040"/>
            <a:ext cx="438912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3" name="Text 11"/>
          <p:cNvSpPr/>
          <p:nvPr/>
        </p:nvSpPr>
        <p:spPr>
          <a:xfrm>
            <a:off x="2999232" y="135331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▶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71323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PIPELINE ETL + IA GENERATIVA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91840" y="987552"/>
            <a:ext cx="2011680" cy="502920"/>
          </a:xfrm>
          <a:prstGeom prst="rect">
            <a:avLst/>
          </a:prstGeom>
          <a:solidFill>
            <a:srgbClr val="334155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91840" y="987552"/>
            <a:ext cx="201168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limpiar_datos.py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(limpieza RUES)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987552"/>
            <a:ext cx="2011680" cy="502920"/>
          </a:xfrm>
          <a:prstGeom prst="rect">
            <a:avLst/>
          </a:prstGeom>
          <a:solidFill>
            <a:srgbClr val="334155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0" y="987552"/>
            <a:ext cx="201168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 nombres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(IA Generativa)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91840" y="1572768"/>
            <a:ext cx="2011680" cy="502920"/>
          </a:xfrm>
          <a:prstGeom prst="rect">
            <a:avLst/>
          </a:prstGeom>
          <a:solidFill>
            <a:srgbClr val="334155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91840" y="1572768"/>
            <a:ext cx="201168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 RUES + Apify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(fuzzywuzzy 85%)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0" y="1572768"/>
            <a:ext cx="2011680" cy="502920"/>
          </a:xfrm>
          <a:prstGeom prst="rect">
            <a:avLst/>
          </a:prstGeom>
          <a:solidFill>
            <a:srgbClr val="334155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0" y="1572768"/>
            <a:ext cx="201168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Deduplicación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validación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07992" y="2176272"/>
            <a:ext cx="36576" cy="25603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0" y="235000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</a:rPr>
              <a:t>▼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" y="2450592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BASE DE DATOS CENTRAL — Ferreterías Colombia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37160" y="2651760"/>
            <a:ext cx="886968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7" name="Shape 25"/>
          <p:cNvSpPr/>
          <p:nvPr/>
        </p:nvSpPr>
        <p:spPr>
          <a:xfrm>
            <a:off x="137160" y="2706624"/>
            <a:ext cx="1417320" cy="310896"/>
          </a:xfrm>
          <a:prstGeom prst="rect">
            <a:avLst/>
          </a:prstGeom>
          <a:solidFill>
            <a:srgbClr val="1624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7160" y="2706624"/>
            <a:ext cx="141732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 / ID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618488" y="2706624"/>
            <a:ext cx="1417320" cy="310896"/>
          </a:xfrm>
          <a:prstGeom prst="rect">
            <a:avLst/>
          </a:prstGeom>
          <a:solidFill>
            <a:srgbClr val="B45309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18488" y="2706624"/>
            <a:ext cx="141732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Comercial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099816" y="2706624"/>
            <a:ext cx="1417320" cy="310896"/>
          </a:xfrm>
          <a:prstGeom prst="rect">
            <a:avLst/>
          </a:prstGeom>
          <a:solidFill>
            <a:srgbClr val="1624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99816" y="2706624"/>
            <a:ext cx="141732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Municipio / Depto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81144" y="2706624"/>
            <a:ext cx="1417320" cy="310896"/>
          </a:xfrm>
          <a:prstGeom prst="rect">
            <a:avLst/>
          </a:prstGeom>
          <a:solidFill>
            <a:srgbClr val="1624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81144" y="2706624"/>
            <a:ext cx="141732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062472" y="2706624"/>
            <a:ext cx="1417320" cy="310896"/>
          </a:xfrm>
          <a:prstGeom prst="rect">
            <a:avLst/>
          </a:prstGeom>
          <a:solidFill>
            <a:srgbClr val="B45309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62472" y="2706624"/>
            <a:ext cx="141732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 / Long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543800" y="2706624"/>
            <a:ext cx="1417320" cy="310896"/>
          </a:xfrm>
          <a:prstGeom prst="rect">
            <a:avLst/>
          </a:prstGeom>
          <a:solidFill>
            <a:srgbClr val="1624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43800" y="2706624"/>
            <a:ext cx="141732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Teléfono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37160" y="3072384"/>
            <a:ext cx="1417320" cy="310896"/>
          </a:xfrm>
          <a:prstGeom prst="rect">
            <a:avLst/>
          </a:prstGeom>
          <a:solidFill>
            <a:srgbClr val="1624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37160" y="3072384"/>
            <a:ext cx="141732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618488" y="3072384"/>
            <a:ext cx="1417320" cy="310896"/>
          </a:xfrm>
          <a:prstGeom prst="rect">
            <a:avLst/>
          </a:prstGeom>
          <a:solidFill>
            <a:srgbClr val="1624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618488" y="3072384"/>
            <a:ext cx="141732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099816" y="3072384"/>
            <a:ext cx="1417320" cy="310896"/>
          </a:xfrm>
          <a:prstGeom prst="rect">
            <a:avLst/>
          </a:prstGeom>
          <a:solidFill>
            <a:srgbClr val="B45309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99816" y="3072384"/>
            <a:ext cx="141732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 Cemento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581144" y="3072384"/>
            <a:ext cx="1417320" cy="310896"/>
          </a:xfrm>
          <a:prstGeom prst="rect">
            <a:avLst/>
          </a:prstGeom>
          <a:solidFill>
            <a:srgbClr val="1624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81144" y="3072384"/>
            <a:ext cx="141732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062472" y="3072384"/>
            <a:ext cx="1417320" cy="310896"/>
          </a:xfrm>
          <a:prstGeom prst="rect">
            <a:avLst/>
          </a:prstGeom>
          <a:solidFill>
            <a:srgbClr val="1624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62472" y="3072384"/>
            <a:ext cx="141732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Actualiz.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543800" y="3072384"/>
            <a:ext cx="1417320" cy="310896"/>
          </a:xfrm>
          <a:prstGeom prst="rect">
            <a:avLst/>
          </a:prstGeom>
          <a:solidFill>
            <a:srgbClr val="1624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43800" y="3072384"/>
            <a:ext cx="141732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empresa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91440" y="3493008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SALIDAS Y AUTOMATIZACIÓN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37160" y="3749040"/>
            <a:ext cx="2103120" cy="960120"/>
          </a:xfrm>
          <a:prstGeom prst="rect">
            <a:avLst/>
          </a:prstGeom>
          <a:solidFill>
            <a:srgbClr val="B45309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137160" y="3749040"/>
            <a:ext cx="210312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(Mapa + Filtros)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377440" y="3749040"/>
            <a:ext cx="2103120" cy="9601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2377440" y="3749040"/>
            <a:ext cx="210312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(On-demand)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617720" y="3749040"/>
            <a:ext cx="2103120" cy="960120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4617720" y="3749040"/>
            <a:ext cx="210312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Workflow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verificación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¿Vende cemento?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858000" y="3749040"/>
            <a:ext cx="2103120" cy="96012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6858000" y="3749040"/>
            <a:ext cx="210312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Excel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CSV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Argos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37160" y="4919472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Campos clave resaltados en naranja  ·  Ejecución: Local → demanda o cada 3-4 meses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43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Acción — 4 Semanas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749808"/>
            <a:ext cx="4206240" cy="2011680"/>
          </a:xfrm>
          <a:prstGeom prst="rect">
            <a:avLst/>
          </a:prstGeom>
          <a:solidFill>
            <a:srgbClr val="162435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749808"/>
            <a:ext cx="4206240" cy="3474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786384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  ·  Limpieza RUES &amp; Arranque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5214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Limpiar y normalizar RUES (34k registros)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14721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duplicados y personas sin nombre comercial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17922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correos: Personal vs. Corporativo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21122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Apify (Google Maps Scraper)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24323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base inicial Excel al profe ✓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749808"/>
            <a:ext cx="4206240" cy="2011680"/>
          </a:xfrm>
          <a:prstGeom prst="rect">
            <a:avLst/>
          </a:prstGeom>
          <a:solidFill>
            <a:srgbClr val="162435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749808"/>
            <a:ext cx="420624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773168" y="786384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  ·  Enriquecimiento con Apify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115214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Apify scraping → nombre comercial real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00600" y="14721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 RUES + Apify (fuzzywuzzy 85%)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17922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Geocodificación → Latitud / Longitud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21122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Teléfono y web desde Google Maps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00600" y="24323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Regiones: Antioquia, Cundinamarca, Eje Cafetero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82880" y="2898648"/>
            <a:ext cx="4206240" cy="2011680"/>
          </a:xfrm>
          <a:prstGeom prst="rect">
            <a:avLst/>
          </a:prstGeom>
          <a:solidFill>
            <a:srgbClr val="162435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82880" y="2898648"/>
            <a:ext cx="4206240" cy="3474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" y="2935224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  ·  N8N + Verificación Cemento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33009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N8N: envío masivo de correo amable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0040" y="36210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 ¿Vende cemento? Sí / No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0040" y="39410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respuestas en base de datos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20040" y="42611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Segmentar base: Con cemento / Sin respuesta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20040" y="458114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automatización local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2898648"/>
            <a:ext cx="4206240" cy="2011680"/>
          </a:xfrm>
          <a:prstGeom prst="rect">
            <a:avLst/>
          </a:prstGeom>
          <a:solidFill>
            <a:srgbClr val="162435"/>
          </a:solidFill>
          <a:ln w="1905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898648"/>
            <a:ext cx="4206240" cy="3474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1" name="Text 29"/>
          <p:cNvSpPr/>
          <p:nvPr/>
        </p:nvSpPr>
        <p:spPr>
          <a:xfrm>
            <a:off x="4773168" y="2935224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4  ·  Dashboard &amp; MVP Final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00600" y="33009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mapa calor + filtros por región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00600" y="36210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"Actualizar base de datos"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00600" y="39410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Excel/CSV desde interfaz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00600" y="42611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completa del pipeline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00600" y="458114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tiempo real para presentación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82880" y="4919472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Reuniones de seguimiento cada 2-3 días  ·  Documentación obligatoria en cada paso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43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itle"/>
          <p:cNvSpPr/>
          <p:nvPr/>
        </p:nvSpPr>
        <p:spPr>
          <a:xfrm>
            <a:off x="228600" y="73152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O" sz="2000" b="1" dirty="0">
                <a:solidFill>
                  <a:srgbClr val="FFFFFF"/>
                </a:solidFill>
                <a:latin typeface="Calibri" pitchFamily="34" charset="0"/>
              </a:rPr>
              <a:t>Entregable Final — Aplicacion Web Integrada</a:t>
            </a:r>
          </a:p>
        </p:txBody>
      </p:sp>
      <p:sp>
        <p:nvSpPr>
          <p:cNvPr id="5" name="Subtitle"/>
          <p:cNvSpPr/>
          <p:nvPr/>
        </p:nvSpPr>
        <p:spPr>
          <a:xfrm>
            <a:off x="228600" y="640080"/>
            <a:ext cx="8686800" cy="274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O" sz="1200" b="0" dirty="0">
                <a:solidFill>
                  <a:srgbClr val="0D9488"/>
                </a:solidFill>
                <a:latin typeface="Calibri" pitchFamily="34" charset="0"/>
              </a:rPr>
              <a:t>Un solo lugar: mapa + botones N8N + estadisticas en tiempo real · Semana 4</a:t>
            </a:r>
          </a:p>
        </p:txBody>
      </p:sp>
      <p:sp>
        <p:nvSpPr>
          <p:cNvPr id="6" name="Box1"/>
          <p:cNvSpPr/>
          <p:nvPr/>
        </p:nvSpPr>
        <p:spPr>
          <a:xfrm>
            <a:off x="228600" y="1005840"/>
            <a:ext cx="2743200" cy="3474720"/>
          </a:xfrm>
          <a:prstGeom prst="rect">
            <a:avLst/>
          </a:prstGeom>
          <a:solidFill>
            <a:srgbClr val="162435"/>
          </a:solidFill>
          <a:ln w="18288">
            <a:solidFill>
              <a:srgbClr val="0D9488"/>
            </a:solidFill>
          </a:ln>
        </p:spPr>
      </p:sp>
      <p:sp>
        <p:nvSpPr>
          <p:cNvPr id="7" name="Box1Header"/>
          <p:cNvSpPr/>
          <p:nvPr/>
        </p:nvSpPr>
        <p:spPr>
          <a:xfrm>
            <a:off x="228600" y="1005840"/>
            <a:ext cx="2743200" cy="27463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s-CO" sz="1400" b="1" dirty="0">
                <a:solidFill>
                  <a:srgbClr val="FFFFFF"/>
                </a:solidFill>
                <a:latin typeface="Calibri" pitchFamily="34" charset="0"/>
              </a:rPr>
              <a:t>MAPA INTERACTIVO</a:t>
            </a:r>
          </a:p>
        </p:txBody>
      </p:sp>
      <p:sp>
        <p:nvSpPr>
          <p:cNvPr id="8" name="Box1Content"/>
          <p:cNvSpPr/>
          <p:nvPr/>
        </p:nvSpPr>
        <p:spPr>
          <a:xfrm>
            <a:off x="274320" y="1325880"/>
            <a:ext cx="2651760" cy="30636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indent="0" marL="0">
              <a:buNone/>
            </a:pPr>
            <a:r>
              <a:rPr lang="es-CO" sz="1100" b="0" dirty="0">
                <a:solidFill>
                  <a:srgbClr val="94A3B8"/>
                </a:solidFill>
                <a:latin typeface="Calibri" pitchFamily="34" charset="0"/>
              </a:rPr>
              <a:t>mapa_v1.html embebido</a:t>
            </a:r>
          </a:p>
          <a:p>
            <a:pPr indent="0" marL="0">
              <a:buNone/>
            </a:pPr>
            <a:r>
              <a:rPr lang="es-CO" sz="100" b="0" dirty="0">
                <a:solidFill>
                  <a:srgbClr val="162435"/>
                </a:solidFill>
                <a:latin typeface="Calibri"/>
              </a:rPr>
              <a:t xml:space="preserve"> </a:t>
            </a:r>
          </a:p>
          <a:p>
            <a:pPr indent="0" marL="0">
              <a:buNone/>
            </a:pPr>
            <a:r>
              <a:rPr lang="es-CO" sz="1100" b="1" dirty="0">
                <a:solidFill>
                  <a:srgbClr val="0D9488"/>
                </a:solidFill>
                <a:latin typeface="Calibri" pitchFamily="34" charset="0"/>
              </a:rPr>
              <a:t>Filtros:</a:t>
            </a:r>
          </a:p>
          <a:p>
            <a:pPr indent="0" marL="0">
              <a:buNone/>
            </a:pPr>
            <a:r>
              <a:rPr lang="es-CO" sz="1100" b="0" dirty="0">
                <a:solidFill>
                  <a:srgbClr val="CBD5E1"/>
                </a:solidFill>
                <a:latin typeface="Calibri" pitchFamily="34" charset="0"/>
              </a:rPr>
              <a:t>• Departamento</a:t>
            </a:r>
          </a:p>
          <a:p>
            <a:pPr indent="0" marL="0">
              <a:buNone/>
            </a:pPr>
            <a:r>
              <a:rPr lang="es-CO" sz="1100" b="0" dirty="0">
                <a:solidFill>
                  <a:srgbClr val="CBD5E1"/>
                </a:solidFill>
                <a:latin typeface="Calibri" pitchFamily="34" charset="0"/>
              </a:rPr>
              <a:t>• Tamano empresa</a:t>
            </a:r>
          </a:p>
          <a:p>
            <a:pPr indent="0" marL="0">
              <a:buNone/>
            </a:pPr>
            <a:r>
              <a:rPr lang="es-CO" sz="1100" b="0" dirty="0">
                <a:solidFill>
                  <a:srgbClr val="CBD5E1"/>
                </a:solidFill>
                <a:latin typeface="Calibri" pitchFamily="34" charset="0"/>
              </a:rPr>
              <a:t>• Vende cemento: Si / No</a:t>
            </a:r>
          </a:p>
          <a:p>
            <a:pPr indent="0" marL="0">
              <a:buNone/>
            </a:pPr>
            <a:r>
              <a:rPr lang="es-CO" sz="1100" b="0" dirty="0">
                <a:solidFill>
                  <a:srgbClr val="CBD5E1"/>
                </a:solidFill>
                <a:latin typeface="Calibri" pitchFamily="34" charset="0"/>
              </a:rPr>
              <a:t>• Capa: puntos / calor / municipios</a:t>
            </a:r>
          </a:p>
          <a:p>
            <a:pPr indent="0" marL="0">
              <a:buNone/>
            </a:pPr>
            <a:r>
              <a:rPr lang="es-CO" sz="100" b="0" dirty="0">
                <a:solidFill>
                  <a:srgbClr val="162435"/>
                </a:solidFill>
                <a:latin typeface="Calibri"/>
              </a:rPr>
              <a:t xml:space="preserve"> </a:t>
            </a:r>
          </a:p>
          <a:p>
            <a:pPr indent="0" marL="0">
              <a:buNone/>
            </a:pPr>
            <a:r>
              <a:rPr lang="es-CO" sz="1100" b="1" dirty="0">
                <a:solidFill>
                  <a:srgbClr val="0D9488"/>
                </a:solidFill>
                <a:latin typeface="Calibri" pitchFamily="34" charset="0"/>
              </a:rPr>
              <a:t>Datos:</a:t>
            </a:r>
          </a:p>
          <a:p>
            <a:pPr indent="0" marL="0">
              <a:buNone/>
            </a:pPr>
            <a:r>
              <a:rPr lang="es-CO" sz="1100" b="0" dirty="0">
                <a:solidFill>
                  <a:srgbClr val="CBD5E1"/>
                </a:solidFill>
                <a:latin typeface="Calibri" pitchFamily="34" charset="0"/>
              </a:rPr>
              <a:t>300 ferreterias target</a:t>
            </a:r>
          </a:p>
          <a:p>
            <a:pPr indent="0" marL="0">
              <a:buNone/>
            </a:pPr>
            <a:r>
              <a:rPr lang="es-CO" sz="1100" b="0" dirty="0">
                <a:solidFill>
                  <a:srgbClr val="CBD5E1"/>
                </a:solidFill>
                <a:latin typeface="Calibri" pitchFamily="34" charset="0"/>
              </a:rPr>
              <a:t>GPS real de cada una</a:t>
            </a:r>
          </a:p>
        </p:txBody>
      </p:sp>
      <p:sp>
        <p:nvSpPr>
          <p:cNvPr id="9" name="Box2"/>
          <p:cNvSpPr/>
          <p:nvPr/>
        </p:nvSpPr>
        <p:spPr>
          <a:xfrm>
            <a:off x="3200400" y="1005840"/>
            <a:ext cx="2743200" cy="3474720"/>
          </a:xfrm>
          <a:prstGeom prst="rect">
            <a:avLst/>
          </a:prstGeom>
          <a:solidFill>
            <a:srgbClr val="162435"/>
          </a:solidFill>
          <a:ln w="18288">
            <a:solidFill>
              <a:srgbClr val="F97316"/>
            </a:solidFill>
          </a:ln>
        </p:spPr>
      </p:sp>
      <p:sp>
        <p:nvSpPr>
          <p:cNvPr id="10" name="Box2Header"/>
          <p:cNvSpPr/>
          <p:nvPr/>
        </p:nvSpPr>
        <p:spPr>
          <a:xfrm>
            <a:off x="3200400" y="1005840"/>
            <a:ext cx="2743200" cy="274638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s-CO" sz="1400" b="1" dirty="0">
                <a:solidFill>
                  <a:srgbClr val="FFFFFF"/>
                </a:solidFill>
                <a:latin typeface="Calibri" pitchFamily="34" charset="0"/>
              </a:rPr>
              <a:t>PANEL DE CONTROL N8N</a:t>
            </a:r>
          </a:p>
        </p:txBody>
      </p:sp>
      <p:sp>
        <p:nvSpPr>
          <p:cNvPr id="11" name="Box2Content"/>
          <p:cNvSpPr/>
          <p:nvPr/>
        </p:nvSpPr>
        <p:spPr>
          <a:xfrm>
            <a:off x="3246120" y="1325880"/>
            <a:ext cx="2651760" cy="30636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indent="0" marL="0">
              <a:buNone/>
            </a:pPr>
            <a:r>
              <a:rPr lang="es-CO" sz="1100" b="1" dirty="0">
                <a:solidFill>
                  <a:srgbClr val="F97316"/>
                </a:solidFill>
                <a:latin typeface="Calibri" pitchFamily="34" charset="0"/>
              </a:rPr>
              <a:t>BOTON 1:</a:t>
            </a:r>
          </a:p>
          <a:p>
            <a:pPr indent="0" marL="0">
              <a:buNone/>
            </a:pPr>
            <a:r>
              <a:rPr lang="es-CO" sz="1200" b="1" dirty="0">
                <a:solidFill>
                  <a:srgbClr val="FFFFFF"/>
                </a:solidFill>
                <a:latin typeface="Calibri" pitchFamily="34" charset="0"/>
              </a:rPr>
              <a:t>Actualizar Base de Datos</a:t>
            </a:r>
          </a:p>
          <a:p>
            <a:pPr indent="0" marL="0">
              <a:buNone/>
            </a:pPr>
            <a:r>
              <a:rPr lang="es-CO" sz="1000" b="0" dirty="0">
                <a:solidFill>
                  <a:srgbClr val="94A3B8"/>
                </a:solidFill>
                <a:latin typeface="Calibri" pitchFamily="34" charset="0"/>
              </a:rPr>
              <a:t>Llama N8N → Apify → Google Maps → agrega nuevas ferreterias → correo al equipo</a:t>
            </a:r>
          </a:p>
          <a:p>
            <a:pPr indent="0" marL="0">
              <a:buNone/>
            </a:pPr>
            <a:r>
              <a:rPr lang="es-CO" sz="100" b="0" dirty="0">
                <a:solidFill>
                  <a:srgbClr val="162435"/>
                </a:solidFill>
                <a:latin typeface="Calibri"/>
              </a:rPr>
              <a:t xml:space="preserve"> </a:t>
            </a:r>
          </a:p>
          <a:p>
            <a:pPr indent="0" marL="0">
              <a:buNone/>
            </a:pPr>
            <a:r>
              <a:rPr lang="es-CO" sz="1100" b="1" dirty="0">
                <a:solidFill>
                  <a:srgbClr val="F97316"/>
                </a:solidFill>
                <a:latin typeface="Calibri" pitchFamily="34" charset="0"/>
              </a:rPr>
              <a:t>BOTON 2:</a:t>
            </a:r>
          </a:p>
          <a:p>
            <a:pPr indent="0" marL="0">
              <a:buNone/>
            </a:pPr>
            <a:r>
              <a:rPr lang="es-CO" sz="1200" b="1" dirty="0">
                <a:solidFill>
                  <a:srgbClr val="FFFFFF"/>
                </a:solidFill>
                <a:latin typeface="Calibri" pitchFamily="34" charset="0"/>
              </a:rPr>
              <a:t>Lanzar Campana Cemento</a:t>
            </a:r>
          </a:p>
          <a:p>
            <a:pPr indent="0" marL="0">
              <a:buNone/>
            </a:pPr>
            <a:r>
              <a:rPr lang="es-CO" sz="1000" b="0" dirty="0">
                <a:solidFill>
                  <a:srgbClr val="94A3B8"/>
                </a:solidFill>
                <a:latin typeface="Calibri" pitchFamily="34" charset="0"/>
              </a:rPr>
              <a:t>N8N envia correos masivos → espera respuesta → actualiza campo vende_cemento</a:t>
            </a:r>
          </a:p>
        </p:txBody>
      </p:sp>
      <p:sp>
        <p:nvSpPr>
          <p:cNvPr id="12" name="Box3"/>
          <p:cNvSpPr/>
          <p:nvPr/>
        </p:nvSpPr>
        <p:spPr>
          <a:xfrm>
            <a:off x="6172200" y="1005840"/>
            <a:ext cx="2743200" cy="3474720"/>
          </a:xfrm>
          <a:prstGeom prst="rect">
            <a:avLst/>
          </a:prstGeom>
          <a:solidFill>
            <a:srgbClr val="162435"/>
          </a:solidFill>
          <a:ln w="18288">
            <a:solidFill>
              <a:srgbClr val="3B82F6"/>
            </a:solidFill>
          </a:ln>
        </p:spPr>
      </p:sp>
      <p:sp>
        <p:nvSpPr>
          <p:cNvPr id="13" name="Box3Header"/>
          <p:cNvSpPr/>
          <p:nvPr/>
        </p:nvSpPr>
        <p:spPr>
          <a:xfrm>
            <a:off x="6172200" y="1005840"/>
            <a:ext cx="2743200" cy="274638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s-CO" sz="1400" b="1" dirty="0">
                <a:solidFill>
                  <a:srgbClr val="FFFFFF"/>
                </a:solidFill>
                <a:latin typeface="Calibri" pitchFamily="34" charset="0"/>
              </a:rPr>
              <a:t>ESTADISTICAS EN VIVO</a:t>
            </a:r>
          </a:p>
        </p:txBody>
      </p:sp>
      <p:sp>
        <p:nvSpPr>
          <p:cNvPr id="14" name="Box3Content"/>
          <p:cNvSpPr/>
          <p:nvPr/>
        </p:nvSpPr>
        <p:spPr>
          <a:xfrm>
            <a:off x="6217920" y="1325880"/>
            <a:ext cx="2651760" cy="30636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indent="0" marL="0">
              <a:buNone/>
            </a:pPr>
            <a:r>
              <a:rPr lang="es-CO" sz="2800" b="1" dirty="0">
                <a:solidFill>
                  <a:srgbClr val="3B82F6"/>
                </a:solidFill>
                <a:latin typeface="Calibri" pitchFamily="34" charset="0"/>
              </a:rPr>
              <a:t>300</a:t>
            </a:r>
          </a:p>
          <a:p>
            <a:pPr indent="0" marL="0">
              <a:buNone/>
            </a:pPr>
            <a:r>
              <a:rPr lang="es-CO" sz="1000" b="0" dirty="0">
                <a:solidFill>
                  <a:srgbClr val="94A3B8"/>
                </a:solidFill>
                <a:latin typeface="Calibri" pitchFamily="34" charset="0"/>
              </a:rPr>
              <a:t>ferreterias target enriquecidas</a:t>
            </a:r>
          </a:p>
          <a:p>
            <a:pPr indent="0" marL="0">
              <a:buNone/>
            </a:pPr>
            <a:r>
              <a:rPr lang="es-CO" sz="100" b="0" dirty="0">
                <a:solidFill>
                  <a:srgbClr val="162435"/>
                </a:solidFill>
                <a:latin typeface="Calibri"/>
              </a:rPr>
              <a:t xml:space="preserve"> </a:t>
            </a:r>
          </a:p>
          <a:p>
            <a:pPr indent="0" marL="0">
              <a:buNone/>
            </a:pPr>
            <a:r>
              <a:rPr lang="es-CO" sz="2800" b="1" dirty="0">
                <a:solidFill>
                  <a:srgbClr val="0D9488"/>
                </a:solidFill>
                <a:latin typeface="Calibri" pitchFamily="34" charset="0"/>
              </a:rPr>
              <a:t>6</a:t>
            </a:r>
          </a:p>
          <a:p>
            <a:pPr indent="0" marL="0">
              <a:buNone/>
            </a:pPr>
            <a:r>
              <a:rPr lang="es-CO" sz="1000" b="0" dirty="0">
                <a:solidFill>
                  <a:srgbClr val="94A3B8"/>
                </a:solidFill>
                <a:latin typeface="Calibri" pitchFamily="34" charset="0"/>
              </a:rPr>
              <a:t>departamentos cubiertos</a:t>
            </a:r>
          </a:p>
          <a:p>
            <a:pPr indent="0" marL="0">
              <a:buNone/>
            </a:pPr>
            <a:r>
              <a:rPr lang="es-CO" sz="100" b="0" dirty="0">
                <a:solidFill>
                  <a:srgbClr val="162435"/>
                </a:solidFill>
                <a:latin typeface="Calibri"/>
              </a:rPr>
              <a:t xml:space="preserve"> </a:t>
            </a:r>
          </a:p>
          <a:p>
            <a:pPr indent="0" marL="0">
              <a:buNone/>
            </a:pPr>
            <a:r>
              <a:rPr lang="es-CO" sz="2800" b="1" dirty="0">
                <a:solidFill>
                  <a:srgbClr val="F97316"/>
                </a:solidFill>
                <a:latin typeface="Calibri" pitchFamily="34" charset="0"/>
              </a:rPr>
              <a:t>1</a:t>
            </a:r>
          </a:p>
          <a:p>
            <a:pPr indent="0" marL="0">
              <a:buNone/>
            </a:pPr>
            <a:r>
              <a:rPr lang="es-CO" sz="1000" b="0" dirty="0">
                <a:solidFill>
                  <a:srgbClr val="94A3B8"/>
                </a:solidFill>
                <a:latin typeface="Calibri" pitchFamily="34" charset="0"/>
              </a:rPr>
              <a:t>clic para actualizar todo</a:t>
            </a:r>
          </a:p>
        </p:txBody>
      </p:sp>
      <p:sp>
        <p:nvSpPr>
          <p:cNvPr id="15" name="Footer"/>
          <p:cNvSpPr/>
          <p:nvPr/>
        </p:nvSpPr>
        <p:spPr>
          <a:xfrm>
            <a:off x="0" y="4834800"/>
            <a:ext cx="9144000" cy="308700"/>
          </a:xfrm>
          <a:prstGeom prst="rect">
            <a:avLst/>
          </a:prstGeom>
          <a:solidFill>
            <a:srgbClr val="162435"/>
          </a:solidFill>
          <a:ln/>
        </p:spPr>
        <p:txBody>
          <a:bodyPr wrap="square" lIns="228600" tIns="45720" rIns="228600" bIns="45720" rtlCol="0" anchor="ctr"/>
          <a:lstStyle/>
          <a:p>
            <a:pPr indent="0" marL="0">
              <a:buNone/>
            </a:pPr>
            <a:r>
              <a:rPr lang="es-CO" sz="900" b="0" dirty="0">
                <a:solidFill>
                  <a:srgbClr val="64748B"/>
                </a:solidFill>
                <a:latin typeface="Calibri" pitchFamily="34" charset="0"/>
              </a:rPr>
              <a:t>Etapa 3 — Proyecto Data Science Argos · Semana 4 · Un archivo HTML, un navegador, demo en vivo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Arquitectura Solución Ferreterías Argos</dc:title>
  <dc:subject>PptxGenJS Presentation</dc:subject>
  <dc:creator>PptxGenJS</dc:creator>
  <cp:lastModifiedBy>PptxGenJS</cp:lastModifiedBy>
  <cp:revision>1</cp:revision>
  <dcterms:created xsi:type="dcterms:W3CDTF">2026-04-11T13:56:32Z</dcterms:created>
  <dcterms:modified xsi:type="dcterms:W3CDTF">2026-04-11T13:56:32Z</dcterms:modified>
</cp:coreProperties>
</file>